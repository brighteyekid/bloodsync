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2" r:id="rId8"/>
    <p:sldId id="259" r:id="rId9"/>
    <p:sldId id="260" r:id="rId10"/>
    <p:sldId id="261" r:id="rId11"/>
    <p:sldId id="263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8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07D89-12EF-4A88-9474-CF0F78882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C2705-BB7A-6CB0-F844-E13494EBE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01DF9-CF10-D0D7-A98B-3045C53D9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B2654-DBBF-4283-83B0-F02564192104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E60B9-F8DF-7B57-56B6-7F0AE2680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8F4B6-A2C3-CD13-C461-B0CD05749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3E76F-530F-4A86-912E-A939F9512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556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E347-1394-A876-4BC7-123C16B67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87BCC-99E1-8700-FCCE-90C513103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BE3C7-9B9B-A5DE-F191-629EF88C3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B2654-DBBF-4283-83B0-F02564192104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AE068-8EF2-D115-8A37-654B37E8F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8C282-D682-9411-D462-C90D6BB0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3E76F-530F-4A86-912E-A939F9512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31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3DD44-6369-E630-0FAA-50D1012B7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3C918-DD78-55C6-D37F-D978E6F9F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FD11B-9BD6-7D8A-6E18-9EAB42B14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B2654-DBBF-4283-83B0-F02564192104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98023-0128-1EF2-1990-1A7046847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6F183-2334-B2C7-BA2E-9FC503147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3E76F-530F-4A86-912E-A939F9512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410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BD68-BBB0-2BD7-2150-91C8518C5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DE814-374D-74EB-9D99-A89BC74D96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D44C98-4C81-7EDB-641C-734C77328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898225-5908-B1BB-132F-23CEE9A61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B2654-DBBF-4283-83B0-F02564192104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5DFD6-C575-86BC-21E0-D9D03A7C3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4AD6C-A19A-65FC-C207-AF91F2AFB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3E76F-530F-4A86-912E-A939F9512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178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99038-B151-A2DF-2B5E-83649843B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9F33A-A109-E359-6779-357B73413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058C1-3217-D519-4049-4234E6AD0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7AE63C-4109-4537-6D7D-92EECA562D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1864E1-F9E8-7228-F58D-617C02B92B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D0023A-C6FB-E6C0-294C-C697E2192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B2654-DBBF-4283-83B0-F02564192104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6576FE-9582-573A-F3B6-6AF40C696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F07AB4-0A8F-CF15-BD2F-F65F1E852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3E76F-530F-4A86-912E-A939F9512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13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B9E33-4515-BAEE-8A6B-F9A27BC79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8EA3EE-4B03-750C-9961-369E049AB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B2654-DBBF-4283-83B0-F02564192104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0BD97D-0288-603B-4492-BC5373B88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F7EC0-6C0B-3926-3F95-4FFA5C2A6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3E76F-530F-4A86-912E-A939F9512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123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B694C6-A610-D6A0-4C4F-EDDCAF77C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B2654-DBBF-4283-83B0-F02564192104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72B19B-AE54-5171-C000-DDC4C967D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AC4FA-6BBF-941F-44A9-D29B73E90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3E76F-530F-4A86-912E-A939F9512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00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D4E6B-5FB5-4E3C-EDE6-FA8188A60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D2585-6F84-BD29-3173-85AC68467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47FE35-CE6A-DB10-67AA-143E5F397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CA63A2-FAFB-4FC3-1713-402DC1C77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B2654-DBBF-4283-83B0-F02564192104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5ECBC-8CB5-E58C-11EA-EC2F03C49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61355-F657-46C1-40B6-20E0489BB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3E76F-530F-4A86-912E-A939F9512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25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F06FC-F7D0-5648-819A-3E47902B7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866570-5B00-A154-6A6C-03BD18990A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1C5E4E-7229-2AC7-F14B-F00D580B9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63CFC-DE03-873C-C4FA-3FC83004B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B2654-DBBF-4283-83B0-F02564192104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22FCE-D79E-317D-44C4-E8E646315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CF764A-96B5-D0BE-3C76-EB6C8479F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3E76F-530F-4A86-912E-A939F9512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720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9E0B2-6C11-D361-32B9-A7CD4BAA6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9B2425-0D6D-5B46-65DB-8138A45BD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57833-8C8B-E926-4314-E4B3AE9DC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B2654-DBBF-4283-83B0-F02564192104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3771E-E4EA-9EE1-0A6F-BCD576028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7DC1A-8A3F-1273-839F-1457FBBB8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3E76F-530F-4A86-912E-A939F9512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091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FA7A5C-6C7C-68AA-0EA0-DA400BAEC0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2FF81-F482-313C-8E7F-AD21E5996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180CD-70F6-6AAE-7EF6-ACF049A41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B2654-DBBF-4283-83B0-F02564192104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F6501-347E-60F1-5FF2-E16278E5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CE24F-37F4-CC5F-928C-CFA15CD00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3E76F-530F-4A86-912E-A939F9512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5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AFD56F-5A0F-5FD6-B987-A64C53CBF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5DD7D-6DB7-2715-58AD-599B98BCD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363BC-6C98-EB31-EC69-82298128D3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1B2654-DBBF-4283-83B0-F02564192104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0F1F5-C01E-DA21-95F6-ADF0667B5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71DC3-EE04-E4F2-C1B5-E7C3EDDDD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3E76F-530F-4A86-912E-A939F9512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57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8BC58-9ED8-CEBF-89E3-350F83F58A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5364" y="2854392"/>
            <a:ext cx="8821271" cy="1015663"/>
          </a:xfrm>
        </p:spPr>
        <p:txBody>
          <a:bodyPr>
            <a:normAutofit fontScale="90000"/>
          </a:bodyPr>
          <a:lstStyle/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53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VISIONTEXT-LLM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26E54D-9B1D-5020-BA5C-5C089594F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2417" y="4684057"/>
            <a:ext cx="7472188" cy="1165484"/>
          </a:xfrm>
        </p:spPr>
        <p:txBody>
          <a:bodyPr>
            <a:normAutofit/>
          </a:bodyPr>
          <a:lstStyle/>
          <a:p>
            <a:r>
              <a:rPr lang="en-IN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Team Members</a:t>
            </a:r>
          </a:p>
          <a:p>
            <a:pPr marL="457200" indent="-457200">
              <a:buAutoNum type="arabicPeriod"/>
            </a:pPr>
            <a:r>
              <a:rPr lang="en-IN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RA2311026010006   </a:t>
            </a:r>
            <a:r>
              <a:rPr lang="en-IN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Anjany</a:t>
            </a:r>
            <a:r>
              <a:rPr lang="en-IN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Kumar Jaiswal </a:t>
            </a:r>
            <a:endParaRPr lang="en-IN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457200" indent="-457200">
              <a:buAutoNum type="arabicPeriod"/>
            </a:pPr>
            <a:endParaRPr lang="en-IN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778F1D-0584-9C3F-221B-9EEAF81820CB}"/>
              </a:ext>
            </a:extLst>
          </p:cNvPr>
          <p:cNvSpPr txBox="1"/>
          <p:nvPr/>
        </p:nvSpPr>
        <p:spPr>
          <a:xfrm>
            <a:off x="3110753" y="161646"/>
            <a:ext cx="78261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SRM Institute of Science and Technology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of Engineering &amp; Technology | School of Computing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Computing Technologies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8D8FBE-097C-1EBA-E7A5-0CD09DFD9F6C}"/>
              </a:ext>
            </a:extLst>
          </p:cNvPr>
          <p:cNvSpPr txBox="1"/>
          <p:nvPr/>
        </p:nvSpPr>
        <p:spPr>
          <a:xfrm>
            <a:off x="3343835" y="159120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21CSC306T Artificial Intelligence – Mini Project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E3D7B-36C9-EC83-64D6-FAB8E3DDDB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" t="1046" r="60106" b="86928"/>
          <a:stretch/>
        </p:blipFill>
        <p:spPr>
          <a:xfrm>
            <a:off x="-1" y="47437"/>
            <a:ext cx="2461879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072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54119-E46A-EECB-2FD4-2EEAE644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C354A-0110-F0A1-8457-4E9F7B4DD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4167"/>
            <a:ext cx="10515600" cy="428279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The </a:t>
            </a:r>
            <a:r>
              <a:rPr lang="en-US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VisionText</a:t>
            </a:r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-LLM project introduces a multimodal Retrieval-Augmented Generation (RAG) system that seamlessly integrates textual and visual data to provide enriched, contextually relevant answers to user queries. By embedding both text and images into a shared vector space, the system enables semantic retrieval and leverages a multimodal Large Language Model (LLM) to generate comprehensive responses without relying on Optical Character Recognition (OCR). This approach enhances information retrieval from documents containing diverse data types, offering a more holistic understanding and interaction with content.​</a:t>
            </a:r>
            <a:endParaRPr lang="en-IN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16A3FA-9C91-E8B3-C88E-7C25567585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" t="1046" r="60106" b="86928"/>
          <a:stretch/>
        </p:blipFill>
        <p:spPr>
          <a:xfrm>
            <a:off x="0" y="47437"/>
            <a:ext cx="1815092" cy="74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998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4260D-4EE7-9850-601A-15EECD333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7C111-B467-CF11-DE8A-84D6F9A6C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079" y="1690688"/>
            <a:ext cx="10304721" cy="4486275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In today's information-rich environment, documents often encompass a blend of textual and visual elements. Traditional retrieval systems primarily focus on text, overlooking the valuable insights embedded in images. The </a:t>
            </a:r>
            <a:r>
              <a:rPr lang="en-US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VisionText</a:t>
            </a:r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-LLM project addresses this gap by developing a system that processes and understands both modalities. By embedding text and images into a unified vector space, the system facilitates semantic retrieval and employs a multimodal LLM to generate responses that consider the full spectrum of document content. This integration aims to improve the accuracy and relevance of information retrieval in complex, multimodal documents.​</a:t>
            </a:r>
            <a:endParaRPr lang="en-IN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470091-7157-46C4-7EBC-9E193342F2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" t="1046" r="60106" b="86928"/>
          <a:stretch/>
        </p:blipFill>
        <p:spPr>
          <a:xfrm>
            <a:off x="0" y="47437"/>
            <a:ext cx="1815092" cy="74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78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F30A4-3C3B-A216-83BB-912193122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893"/>
            <a:ext cx="10515600" cy="1137795"/>
          </a:xfrm>
        </p:spPr>
        <p:txBody>
          <a:bodyPr/>
          <a:lstStyle/>
          <a:p>
            <a:pPr algn="ctr"/>
            <a:r>
              <a:rPr lang="en-IN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Challenges / Motivation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29CA6C4-2040-5CD2-BF97-B1B640CF9E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8585" y="1690688"/>
            <a:ext cx="1087482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Limitations of OCR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: OCR technologies can struggle with accurately extracting text from images, especially when dealing with complex layouts or low-quality visuals.​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Isolated Modal Processing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: Conventional systems often process text and images separately, missing out on the synergistic insights that a combined analysis can offer.​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Semantic Retrieval Difficulties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: Retrieving relevant information based on the semantic content of both text and images poses significant challenges.​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Advancements in Multimodal Models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: The emergence of multimodal large language models presents new opportunities to overcome these challenges by enabling integrated processing of diverse data types.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5DA7BF-6DCB-6683-31EA-5D4937B8CB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" t="1046" r="60106" b="86928"/>
          <a:stretch/>
        </p:blipFill>
        <p:spPr>
          <a:xfrm>
            <a:off x="0" y="47437"/>
            <a:ext cx="1815092" cy="74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59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71B73-F4C1-C090-D2BB-EE2684609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6995"/>
            <a:ext cx="10515600" cy="1070699"/>
          </a:xfrm>
        </p:spPr>
        <p:txBody>
          <a:bodyPr/>
          <a:lstStyle/>
          <a:p>
            <a:pPr algn="ctr"/>
            <a:r>
              <a:rPr lang="en-IN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02C45-4C35-14B6-4F6C-CD0964917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4891"/>
            <a:ext cx="10515600" cy="2969659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Existing information retrieval systems often fail to effectively process and integrate visual data, leading to incomplete or inaccurate responses when dealing with multimodal documents. There is a need for a system that can semantically understand and retrieve information from both text and images, providing comprehensive answers without relying on OCR for image content extraction.</a:t>
            </a:r>
            <a:endParaRPr lang="en-IN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DA9E57-C324-5703-E279-87C1F4BA0F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" t="1046" r="60106" b="86928"/>
          <a:stretch/>
        </p:blipFill>
        <p:spPr>
          <a:xfrm>
            <a:off x="0" y="47437"/>
            <a:ext cx="1815092" cy="74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177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70841-ACDE-E9DE-DA4E-D06E6C5D8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9989"/>
            <a:ext cx="10515600" cy="1070699"/>
          </a:xfrm>
        </p:spPr>
        <p:txBody>
          <a:bodyPr/>
          <a:lstStyle/>
          <a:p>
            <a:pPr algn="ctr"/>
            <a:r>
              <a:rPr lang="en-IN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Existing System /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EF0F8-39E4-4D6C-B9A4-540A9EF08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1393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Traditional retrieval systems primarily focus on textual data, utilizing keyword matching or basic semantic search techniques. Some advanced systems incorporate OCR to extract text from images; however, OCR can be unreliable, especially with complex or low-quality images. These systems often lack the capability to understand and integrate visual context effectively, leading to suboptimal information retrieval from multimodal documents.</a:t>
            </a:r>
            <a:endParaRPr lang="en-IN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D377F7-C9B4-F522-2D3A-56C697FEBC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" t="1046" r="60106" b="86928"/>
          <a:stretch/>
        </p:blipFill>
        <p:spPr>
          <a:xfrm>
            <a:off x="0" y="47437"/>
            <a:ext cx="1815092" cy="74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229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87495-DB12-DE4D-54B2-6BADE4F57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6354"/>
          </a:xfrm>
        </p:spPr>
        <p:txBody>
          <a:bodyPr/>
          <a:lstStyle/>
          <a:p>
            <a:pPr algn="ctr"/>
            <a:r>
              <a:rPr lang="en-IN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Proposed System / Work</a:t>
            </a:r>
            <a:endParaRPr lang="en-IN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99CFD-9507-0B1E-21EE-7CFF053E4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935" y="1573620"/>
            <a:ext cx="11387470" cy="5122734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31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VisionText</a:t>
            </a:r>
            <a:r>
              <a:rPr lang="en-US" sz="3100" dirty="0">
                <a:latin typeface="MS Gothic" panose="020B0609070205080204" pitchFamily="49" charset="-128"/>
                <a:ea typeface="MS Gothic" panose="020B0609070205080204" pitchFamily="49" charset="-128"/>
              </a:rPr>
              <a:t>-LLM introduces a multimodal RAG framework that integrates both</a:t>
            </a:r>
          </a:p>
          <a:p>
            <a:pPr>
              <a:buNone/>
            </a:pPr>
            <a:r>
              <a:rPr lang="en-US" sz="3100" dirty="0">
                <a:latin typeface="MS Gothic" panose="020B0609070205080204" pitchFamily="49" charset="-128"/>
                <a:ea typeface="MS Gothic" panose="020B0609070205080204" pitchFamily="49" charset="-128"/>
              </a:rPr>
              <a:t>text and image data into a shared embedding space. The system operates as</a:t>
            </a:r>
          </a:p>
          <a:p>
            <a:pPr>
              <a:buNone/>
            </a:pPr>
            <a:r>
              <a:rPr lang="en-US" sz="3100" dirty="0">
                <a:latin typeface="MS Gothic" panose="020B0609070205080204" pitchFamily="49" charset="-128"/>
                <a:ea typeface="MS Gothic" panose="020B0609070205080204" pitchFamily="49" charset="-128"/>
              </a:rPr>
              <a:t>follows:​</a:t>
            </a:r>
          </a:p>
          <a:p>
            <a:pPr>
              <a:buFont typeface="+mj-lt"/>
              <a:buAutoNum type="arabicPeriod"/>
            </a:pPr>
            <a:r>
              <a:rPr lang="en-US" sz="31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Data Extraction</a:t>
            </a:r>
            <a:r>
              <a:rPr lang="en-US" sz="3100" dirty="0">
                <a:latin typeface="MS Gothic" panose="020B0609070205080204" pitchFamily="49" charset="-128"/>
                <a:ea typeface="MS Gothic" panose="020B0609070205080204" pitchFamily="49" charset="-128"/>
              </a:rPr>
              <a:t>: Extracts textual and visual content from documents.​</a:t>
            </a:r>
          </a:p>
          <a:p>
            <a:pPr>
              <a:buFont typeface="+mj-lt"/>
              <a:buAutoNum type="arabicPeriod"/>
            </a:pPr>
            <a:r>
              <a:rPr lang="en-US" sz="31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Embedding Generation</a:t>
            </a:r>
            <a:r>
              <a:rPr lang="en-US" sz="3100" dirty="0">
                <a:latin typeface="MS Gothic" panose="020B0609070205080204" pitchFamily="49" charset="-128"/>
                <a:ea typeface="MS Gothic" panose="020B0609070205080204" pitchFamily="49" charset="-128"/>
              </a:rPr>
              <a:t>: Utilizes multimodal encoders to generate embeddings for both text and images, mapping them into a unified vector space.​</a:t>
            </a:r>
          </a:p>
          <a:p>
            <a:pPr>
              <a:buFont typeface="+mj-lt"/>
              <a:buAutoNum type="arabicPeriod"/>
            </a:pPr>
            <a:r>
              <a:rPr lang="en-US" sz="31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Semantic Retrieval</a:t>
            </a:r>
            <a:r>
              <a:rPr lang="en-US" sz="3100" dirty="0">
                <a:latin typeface="MS Gothic" panose="020B0609070205080204" pitchFamily="49" charset="-128"/>
                <a:ea typeface="MS Gothic" panose="020B0609070205080204" pitchFamily="49" charset="-128"/>
              </a:rPr>
              <a:t>: Performs semantic search within the embedding space to retrieve relevant content based on user queries.​</a:t>
            </a:r>
          </a:p>
          <a:p>
            <a:pPr>
              <a:buFont typeface="+mj-lt"/>
              <a:buAutoNum type="arabicPeriod"/>
            </a:pPr>
            <a:r>
              <a:rPr lang="en-US" sz="31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Response Generation</a:t>
            </a:r>
            <a:r>
              <a:rPr lang="en-US" sz="3100" dirty="0">
                <a:latin typeface="MS Gothic" panose="020B0609070205080204" pitchFamily="49" charset="-128"/>
                <a:ea typeface="MS Gothic" panose="020B0609070205080204" pitchFamily="49" charset="-128"/>
              </a:rPr>
              <a:t>: Employs a multimodal large language model to generate contextually enriched responses that incorporate information from both text and images.​</a:t>
            </a:r>
          </a:p>
          <a:p>
            <a:pPr marL="0" indent="0">
              <a:buNone/>
            </a:pPr>
            <a:r>
              <a:rPr lang="en-US" sz="3100" dirty="0">
                <a:latin typeface="MS Gothic" panose="020B0609070205080204" pitchFamily="49" charset="-128"/>
                <a:ea typeface="MS Gothic" panose="020B0609070205080204" pitchFamily="49" charset="-128"/>
              </a:rPr>
              <a:t>This approach enhances the system's ability to comprehend and respond to complex queries involving diverse data types, providing more accurate and informative results.​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AA512A-A1D8-D90E-A802-E5315FB41D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" t="1046" r="60106" b="86928"/>
          <a:stretch/>
        </p:blipFill>
        <p:spPr>
          <a:xfrm>
            <a:off x="0" y="47437"/>
            <a:ext cx="1815092" cy="74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496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E4348-6440-6780-4F24-37FD9E191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050"/>
            <a:ext cx="10515600" cy="1197861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Architecture / Data Flow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2C255A-F5F7-44D4-2491-0F9882A5B3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" t="1046" r="60106" b="86928"/>
          <a:stretch/>
        </p:blipFill>
        <p:spPr>
          <a:xfrm>
            <a:off x="0" y="47437"/>
            <a:ext cx="1815092" cy="748827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2C598E1-B638-6713-88F9-943BFEAEC9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264" y="1470912"/>
            <a:ext cx="7676707" cy="5021964"/>
          </a:xfrm>
        </p:spPr>
      </p:pic>
    </p:spTree>
    <p:extLst>
      <p:ext uri="{BB962C8B-B14F-4D97-AF65-F5344CB8AC3E}">
        <p14:creationId xmlns:p14="http://schemas.microsoft.com/office/powerpoint/2010/main" val="3804611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EF8A-5D94-4F42-5B3B-D65ADD628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/ Application Developed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D2429-88DC-F691-0100-7547FF04D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C355AD-D3B2-EE6C-85F4-8A3CF81616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" t="1046" r="60106" b="86928"/>
          <a:stretch/>
        </p:blipFill>
        <p:spPr>
          <a:xfrm>
            <a:off x="226359" y="161646"/>
            <a:ext cx="2595282" cy="10706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26FF3A-4411-6D54-7A39-BF67C8995F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59" y="2214319"/>
            <a:ext cx="7123814" cy="42785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6DEE1-E7B8-31E3-F2C9-65003D314AE1}"/>
              </a:ext>
            </a:extLst>
          </p:cNvPr>
          <p:cNvSpPr txBox="1"/>
          <p:nvPr/>
        </p:nvSpPr>
        <p:spPr>
          <a:xfrm>
            <a:off x="457199" y="1755976"/>
            <a:ext cx="6677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Screen-Shot of the Application that has been developed </a:t>
            </a:r>
            <a:endParaRPr lang="en-IN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3A5ACE-3156-BD59-A794-15149DF07C7E}"/>
              </a:ext>
            </a:extLst>
          </p:cNvPr>
          <p:cNvSpPr txBox="1"/>
          <p:nvPr/>
        </p:nvSpPr>
        <p:spPr>
          <a:xfrm>
            <a:off x="7506586" y="1940642"/>
            <a:ext cx="44590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Github</a:t>
            </a:r>
            <a:r>
              <a:rPr lang="en-US" sz="2000" dirty="0">
                <a:latin typeface="MS Gothic" panose="020B0609070205080204" pitchFamily="49" charset="-128"/>
                <a:ea typeface="MS Gothic" panose="020B0609070205080204" pitchFamily="49" charset="-128"/>
              </a:rPr>
              <a:t> Repo of the application : (https://github.com/AnjanyKumarJaiswal/VisionText-LLM)</a:t>
            </a:r>
            <a:endParaRPr lang="en-IN" sz="20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52844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fd45cad-29b5-42e1-837a-76653569cb5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BACC38D89E8A41B1BAF60DCEED02A5" ma:contentTypeVersion="12" ma:contentTypeDescription="Create a new document." ma:contentTypeScope="" ma:versionID="9f2b21ac9beedb81e66997a8ca38936d">
  <xsd:schema xmlns:xsd="http://www.w3.org/2001/XMLSchema" xmlns:xs="http://www.w3.org/2001/XMLSchema" xmlns:p="http://schemas.microsoft.com/office/2006/metadata/properties" xmlns:ns3="6fd45cad-29b5-42e1-837a-76653569cb57" targetNamespace="http://schemas.microsoft.com/office/2006/metadata/properties" ma:root="true" ma:fieldsID="cd4efc85bc7730f0c22b0dc26b7055da" ns3:_="">
    <xsd:import namespace="6fd45cad-29b5-42e1-837a-76653569cb5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d45cad-29b5-42e1-837a-76653569cb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8D90D9-5C7A-4AEB-B5C6-2A1437192AD7}">
  <ds:schemaRefs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fopath/2007/PartnerControls"/>
    <ds:schemaRef ds:uri="6fd45cad-29b5-42e1-837a-76653569cb57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AD6AE66-D228-4D8D-B293-105A92E12C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052620-C068-4788-A975-DFC09E1940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d45cad-29b5-42e1-837a-76653569cb5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636</Words>
  <Application>Microsoft Office PowerPoint</Application>
  <PresentationFormat>Widescreen</PresentationFormat>
  <Paragraphs>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MS Gothic</vt:lpstr>
      <vt:lpstr>Arial</vt:lpstr>
      <vt:lpstr>Calibri</vt:lpstr>
      <vt:lpstr>Calibri Light</vt:lpstr>
      <vt:lpstr>Times New Roman</vt:lpstr>
      <vt:lpstr>Office Theme</vt:lpstr>
      <vt:lpstr> VISIONTEXT-LLM</vt:lpstr>
      <vt:lpstr>Abstract</vt:lpstr>
      <vt:lpstr>Introduction</vt:lpstr>
      <vt:lpstr>Challenges / Motivation</vt:lpstr>
      <vt:lpstr>Problem Statement</vt:lpstr>
      <vt:lpstr>Existing System / Work</vt:lpstr>
      <vt:lpstr>Proposed System / Work</vt:lpstr>
      <vt:lpstr>Architecture / Data Flow Diagram</vt:lpstr>
      <vt:lpstr>Prototype / Application Developed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Project(Imprecise your title)</dc:title>
  <dc:creator>Karthikeyan Udaichi</dc:creator>
  <cp:lastModifiedBy>ANJANY KUMAR JAISWAL</cp:lastModifiedBy>
  <cp:revision>23</cp:revision>
  <dcterms:created xsi:type="dcterms:W3CDTF">2024-03-13T02:51:36Z</dcterms:created>
  <dcterms:modified xsi:type="dcterms:W3CDTF">2025-04-22T05:06:06Z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0x01010061BACC38D89E8A41B1BAF60DCEED02A5</vt:lpwstr>
  </property>
</Properties>
</file>